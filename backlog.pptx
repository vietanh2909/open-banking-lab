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60" r:id="rId2"/>
    <p:sldId id="258" r:id="rId3"/>
    <p:sldId id="259" r:id="rId4"/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>
        <p:scale>
          <a:sx n="100" d="100"/>
          <a:sy n="100" d="100"/>
        </p:scale>
        <p:origin x="999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C23DD93-73E4-409E-8E1D-A6A03669FE1D}" type="doc">
      <dgm:prSet loTypeId="urn:microsoft.com/office/officeart/2005/8/layout/chevron1" loCatId="process" qsTypeId="urn:microsoft.com/office/officeart/2005/8/quickstyle/simple5" qsCatId="simple" csTypeId="urn:microsoft.com/office/officeart/2005/8/colors/colorful1" csCatId="colorful" phldr="1"/>
      <dgm:spPr/>
    </dgm:pt>
    <dgm:pt modelId="{63859E85-94B5-4968-9695-3A2CDA0F1CA9}">
      <dgm:prSet phldrT="[Text]"/>
      <dgm:spPr/>
      <dgm:t>
        <a:bodyPr/>
        <a:lstStyle/>
        <a:p>
          <a:r>
            <a:rPr lang="en-US" smtClean="0">
              <a:latin typeface="Roboto Flex"/>
            </a:rPr>
            <a:t>MVP1</a:t>
          </a:r>
          <a:endParaRPr lang="en-US">
            <a:latin typeface="Roboto Flex"/>
          </a:endParaRPr>
        </a:p>
      </dgm:t>
    </dgm:pt>
    <dgm:pt modelId="{A75DB80B-87CF-4CC3-8349-9C3D645EBB0B}" type="parTrans" cxnId="{F6C6C1AE-3A76-4E75-B770-8116F840CED9}">
      <dgm:prSet/>
      <dgm:spPr/>
      <dgm:t>
        <a:bodyPr/>
        <a:lstStyle/>
        <a:p>
          <a:endParaRPr lang="en-US"/>
        </a:p>
      </dgm:t>
    </dgm:pt>
    <dgm:pt modelId="{3A57A1A3-0824-4A00-AF7B-87D3FE72EE6F}" type="sibTrans" cxnId="{F6C6C1AE-3A76-4E75-B770-8116F840CED9}">
      <dgm:prSet/>
      <dgm:spPr/>
      <dgm:t>
        <a:bodyPr/>
        <a:lstStyle/>
        <a:p>
          <a:endParaRPr lang="en-US"/>
        </a:p>
      </dgm:t>
    </dgm:pt>
    <dgm:pt modelId="{B8B67F13-CA93-45A5-87AF-2DEA81F99520}">
      <dgm:prSet phldrT="[Text]"/>
      <dgm:spPr/>
      <dgm:t>
        <a:bodyPr/>
        <a:lstStyle/>
        <a:p>
          <a:r>
            <a:rPr lang="en-US" smtClean="0">
              <a:latin typeface="Roboto Flex"/>
            </a:rPr>
            <a:t>MVP2</a:t>
          </a:r>
          <a:endParaRPr lang="en-US">
            <a:latin typeface="Roboto Flex"/>
          </a:endParaRPr>
        </a:p>
      </dgm:t>
    </dgm:pt>
    <dgm:pt modelId="{1938E505-B955-4CCB-BF2F-E59DB7C57A32}" type="parTrans" cxnId="{25A9C654-E7AA-4005-81AF-CD7E3079588A}">
      <dgm:prSet/>
      <dgm:spPr/>
      <dgm:t>
        <a:bodyPr/>
        <a:lstStyle/>
        <a:p>
          <a:endParaRPr lang="en-US"/>
        </a:p>
      </dgm:t>
    </dgm:pt>
    <dgm:pt modelId="{674B4378-C51B-4069-AFF5-67A50518334D}" type="sibTrans" cxnId="{25A9C654-E7AA-4005-81AF-CD7E3079588A}">
      <dgm:prSet/>
      <dgm:spPr/>
      <dgm:t>
        <a:bodyPr/>
        <a:lstStyle/>
        <a:p>
          <a:endParaRPr lang="en-US"/>
        </a:p>
      </dgm:t>
    </dgm:pt>
    <dgm:pt modelId="{F84B2781-B026-4768-8F56-E0B8E316F639}">
      <dgm:prSet phldrT="[Text]"/>
      <dgm:spPr/>
      <dgm:t>
        <a:bodyPr/>
        <a:lstStyle/>
        <a:p>
          <a:r>
            <a:rPr lang="en-US" smtClean="0">
              <a:latin typeface="Roboto Flex"/>
            </a:rPr>
            <a:t>MVP3</a:t>
          </a:r>
          <a:endParaRPr lang="en-US">
            <a:latin typeface="Roboto Flex"/>
          </a:endParaRPr>
        </a:p>
      </dgm:t>
    </dgm:pt>
    <dgm:pt modelId="{335F4284-52C2-4063-9DA3-BEE8333258D0}" type="parTrans" cxnId="{D75F043E-560F-40F3-A607-A50ADFCA7987}">
      <dgm:prSet/>
      <dgm:spPr/>
      <dgm:t>
        <a:bodyPr/>
        <a:lstStyle/>
        <a:p>
          <a:endParaRPr lang="en-US"/>
        </a:p>
      </dgm:t>
    </dgm:pt>
    <dgm:pt modelId="{DB89EF77-BA9B-468B-B58E-425DD905FBE9}" type="sibTrans" cxnId="{D75F043E-560F-40F3-A607-A50ADFCA7987}">
      <dgm:prSet/>
      <dgm:spPr/>
      <dgm:t>
        <a:bodyPr/>
        <a:lstStyle/>
        <a:p>
          <a:endParaRPr lang="en-US"/>
        </a:p>
      </dgm:t>
    </dgm:pt>
    <dgm:pt modelId="{E1094314-AAA5-4594-82BC-6A8B87E7A700}" type="pres">
      <dgm:prSet presAssocID="{4C23DD93-73E4-409E-8E1D-A6A03669FE1D}" presName="Name0" presStyleCnt="0">
        <dgm:presLayoutVars>
          <dgm:dir/>
          <dgm:animLvl val="lvl"/>
          <dgm:resizeHandles val="exact"/>
        </dgm:presLayoutVars>
      </dgm:prSet>
      <dgm:spPr/>
    </dgm:pt>
    <dgm:pt modelId="{B02DF4F1-2D91-42DF-9F80-D89FC6D14F80}" type="pres">
      <dgm:prSet presAssocID="{63859E85-94B5-4968-9695-3A2CDA0F1CA9}" presName="parTxOnly" presStyleLbl="node1" presStyleIdx="0" presStyleCnt="3" custScaleX="31575" custScaleY="37100" custLinFactX="-20698" custLinFactNeighborX="-100000" custLinFactNeighborY="-2491">
        <dgm:presLayoutVars>
          <dgm:chMax val="0"/>
          <dgm:chPref val="0"/>
          <dgm:bulletEnabled val="1"/>
        </dgm:presLayoutVars>
      </dgm:prSet>
      <dgm:spPr/>
    </dgm:pt>
    <dgm:pt modelId="{37049A08-0686-4F37-9BB0-9594808C6F0D}" type="pres">
      <dgm:prSet presAssocID="{3A57A1A3-0824-4A00-AF7B-87D3FE72EE6F}" presName="parTxOnlySpace" presStyleCnt="0"/>
      <dgm:spPr/>
    </dgm:pt>
    <dgm:pt modelId="{98716041-A255-4640-B1AA-56804DCEF332}" type="pres">
      <dgm:prSet presAssocID="{B8B67F13-CA93-45A5-87AF-2DEA81F99520}" presName="parTxOnly" presStyleLbl="node1" presStyleIdx="1" presStyleCnt="3" custScaleX="32238" custScaleY="42893" custLinFactNeighborX="947" custLinFactNeighborY="-11285">
        <dgm:presLayoutVars>
          <dgm:chMax val="0"/>
          <dgm:chPref val="0"/>
          <dgm:bulletEnabled val="1"/>
        </dgm:presLayoutVars>
      </dgm:prSet>
      <dgm:spPr/>
    </dgm:pt>
    <dgm:pt modelId="{2F1123A3-EBC0-423F-B9D9-CF06A995CA37}" type="pres">
      <dgm:prSet presAssocID="{674B4378-C51B-4069-AFF5-67A50518334D}" presName="parTxOnlySpace" presStyleCnt="0"/>
      <dgm:spPr/>
    </dgm:pt>
    <dgm:pt modelId="{BD9AB818-1B56-478E-8AAB-6F314623DF0B}" type="pres">
      <dgm:prSet presAssocID="{F84B2781-B026-4768-8F56-E0B8E316F639}" presName="parTxOnly" presStyleLbl="node1" presStyleIdx="2" presStyleCnt="3" custScaleX="31589" custScaleY="37100" custLinFactX="1629" custLinFactNeighborX="100000" custLinFactNeighborY="990">
        <dgm:presLayoutVars>
          <dgm:chMax val="0"/>
          <dgm:chPref val="0"/>
          <dgm:bulletEnabled val="1"/>
        </dgm:presLayoutVars>
      </dgm:prSet>
      <dgm:spPr/>
    </dgm:pt>
  </dgm:ptLst>
  <dgm:cxnLst>
    <dgm:cxn modelId="{D75F043E-560F-40F3-A607-A50ADFCA7987}" srcId="{4C23DD93-73E4-409E-8E1D-A6A03669FE1D}" destId="{F84B2781-B026-4768-8F56-E0B8E316F639}" srcOrd="2" destOrd="0" parTransId="{335F4284-52C2-4063-9DA3-BEE8333258D0}" sibTransId="{DB89EF77-BA9B-468B-B58E-425DD905FBE9}"/>
    <dgm:cxn modelId="{58EFDA27-B050-4099-B521-7551E524A297}" type="presOf" srcId="{4C23DD93-73E4-409E-8E1D-A6A03669FE1D}" destId="{E1094314-AAA5-4594-82BC-6A8B87E7A700}" srcOrd="0" destOrd="0" presId="urn:microsoft.com/office/officeart/2005/8/layout/chevron1"/>
    <dgm:cxn modelId="{1402DE1C-0623-42B0-A248-650BC1F859CA}" type="presOf" srcId="{63859E85-94B5-4968-9695-3A2CDA0F1CA9}" destId="{B02DF4F1-2D91-42DF-9F80-D89FC6D14F80}" srcOrd="0" destOrd="0" presId="urn:microsoft.com/office/officeart/2005/8/layout/chevron1"/>
    <dgm:cxn modelId="{D4F5DC50-7013-478D-B922-0D9BA4F0360A}" type="presOf" srcId="{B8B67F13-CA93-45A5-87AF-2DEA81F99520}" destId="{98716041-A255-4640-B1AA-56804DCEF332}" srcOrd="0" destOrd="0" presId="urn:microsoft.com/office/officeart/2005/8/layout/chevron1"/>
    <dgm:cxn modelId="{03B87E20-23C3-4D4C-BAFD-F4C398049C79}" type="presOf" srcId="{F84B2781-B026-4768-8F56-E0B8E316F639}" destId="{BD9AB818-1B56-478E-8AAB-6F314623DF0B}" srcOrd="0" destOrd="0" presId="urn:microsoft.com/office/officeart/2005/8/layout/chevron1"/>
    <dgm:cxn modelId="{25A9C654-E7AA-4005-81AF-CD7E3079588A}" srcId="{4C23DD93-73E4-409E-8E1D-A6A03669FE1D}" destId="{B8B67F13-CA93-45A5-87AF-2DEA81F99520}" srcOrd="1" destOrd="0" parTransId="{1938E505-B955-4CCB-BF2F-E59DB7C57A32}" sibTransId="{674B4378-C51B-4069-AFF5-67A50518334D}"/>
    <dgm:cxn modelId="{F6C6C1AE-3A76-4E75-B770-8116F840CED9}" srcId="{4C23DD93-73E4-409E-8E1D-A6A03669FE1D}" destId="{63859E85-94B5-4968-9695-3A2CDA0F1CA9}" srcOrd="0" destOrd="0" parTransId="{A75DB80B-87CF-4CC3-8349-9C3D645EBB0B}" sibTransId="{3A57A1A3-0824-4A00-AF7B-87D3FE72EE6F}"/>
    <dgm:cxn modelId="{05EFCE19-767C-4DA0-9A0D-B78BA46A0711}" type="presParOf" srcId="{E1094314-AAA5-4594-82BC-6A8B87E7A700}" destId="{B02DF4F1-2D91-42DF-9F80-D89FC6D14F80}" srcOrd="0" destOrd="0" presId="urn:microsoft.com/office/officeart/2005/8/layout/chevron1"/>
    <dgm:cxn modelId="{23AFF69C-DC81-42CC-9696-8A347BB86056}" type="presParOf" srcId="{E1094314-AAA5-4594-82BC-6A8B87E7A700}" destId="{37049A08-0686-4F37-9BB0-9594808C6F0D}" srcOrd="1" destOrd="0" presId="urn:microsoft.com/office/officeart/2005/8/layout/chevron1"/>
    <dgm:cxn modelId="{4B455637-2D63-4F8F-8BED-82C4128F18E3}" type="presParOf" srcId="{E1094314-AAA5-4594-82BC-6A8B87E7A700}" destId="{98716041-A255-4640-B1AA-56804DCEF332}" srcOrd="2" destOrd="0" presId="urn:microsoft.com/office/officeart/2005/8/layout/chevron1"/>
    <dgm:cxn modelId="{608E6111-9D92-4D18-8C85-4244C71A0C16}" type="presParOf" srcId="{E1094314-AAA5-4594-82BC-6A8B87E7A700}" destId="{2F1123A3-EBC0-423F-B9D9-CF06A995CA37}" srcOrd="3" destOrd="0" presId="urn:microsoft.com/office/officeart/2005/8/layout/chevron1"/>
    <dgm:cxn modelId="{5D7C6022-B5B3-4CF0-B6E2-AC58700A196A}" type="presParOf" srcId="{E1094314-AAA5-4594-82BC-6A8B87E7A700}" destId="{BD9AB818-1B56-478E-8AAB-6F314623DF0B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2DF4F1-2D91-42DF-9F80-D89FC6D14F80}">
      <dsp:nvSpPr>
        <dsp:cNvPr id="0" name=""/>
        <dsp:cNvSpPr/>
      </dsp:nvSpPr>
      <dsp:spPr>
        <a:xfrm>
          <a:off x="0" y="0"/>
          <a:ext cx="3666112" cy="333212"/>
        </a:xfrm>
        <a:prstGeom prst="chevron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4011" tIns="28004" rIns="28004" bIns="28004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smtClean="0">
              <a:latin typeface="Roboto Flex"/>
            </a:rPr>
            <a:t>MVP1</a:t>
          </a:r>
          <a:endParaRPr lang="en-US" sz="2100" kern="1200">
            <a:latin typeface="Roboto Flex"/>
          </a:endParaRPr>
        </a:p>
      </dsp:txBody>
      <dsp:txXfrm>
        <a:off x="166606" y="0"/>
        <a:ext cx="3332900" cy="333212"/>
      </dsp:txXfrm>
    </dsp:sp>
    <dsp:sp modelId="{98716041-A255-4640-B1AA-56804DCEF332}">
      <dsp:nvSpPr>
        <dsp:cNvPr id="0" name=""/>
        <dsp:cNvSpPr/>
      </dsp:nvSpPr>
      <dsp:spPr>
        <a:xfrm>
          <a:off x="3949714" y="-26014"/>
          <a:ext cx="3743091" cy="385241"/>
        </a:xfrm>
        <a:prstGeom prst="chevron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4011" tIns="28004" rIns="28004" bIns="28004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smtClean="0">
              <a:latin typeface="Roboto Flex"/>
            </a:rPr>
            <a:t>MVP2</a:t>
          </a:r>
          <a:endParaRPr lang="en-US" sz="2100" kern="1200">
            <a:latin typeface="Roboto Flex"/>
          </a:endParaRPr>
        </a:p>
      </dsp:txBody>
      <dsp:txXfrm>
        <a:off x="4142335" y="-26014"/>
        <a:ext cx="3357850" cy="385241"/>
      </dsp:txXfrm>
    </dsp:sp>
    <dsp:sp modelId="{BD9AB818-1B56-478E-8AAB-6F314623DF0B}">
      <dsp:nvSpPr>
        <dsp:cNvPr id="0" name=""/>
        <dsp:cNvSpPr/>
      </dsp:nvSpPr>
      <dsp:spPr>
        <a:xfrm>
          <a:off x="7870951" y="0"/>
          <a:ext cx="3667737" cy="333212"/>
        </a:xfrm>
        <a:prstGeom prst="chevron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4011" tIns="28004" rIns="28004" bIns="28004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smtClean="0">
              <a:latin typeface="Roboto Flex"/>
            </a:rPr>
            <a:t>MVP3</a:t>
          </a:r>
          <a:endParaRPr lang="en-US" sz="2100" kern="1200">
            <a:latin typeface="Roboto Flex"/>
          </a:endParaRPr>
        </a:p>
      </dsp:txBody>
      <dsp:txXfrm>
        <a:off x="8037557" y="0"/>
        <a:ext cx="3334525" cy="3332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1CDFB8-0CB6-4AC0-9322-E12A00778FDA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655995-6C57-4BC3-AA2A-050BE1DFD2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977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smtClean="0"/>
              <a:t>GET /exchange-rate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smtClean="0"/>
              <a:t>GET /interest-rate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smtClean="0"/>
              <a:t>GET /accounts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smtClean="0"/>
              <a:t>GET /accounts/{id}/balance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smtClean="0"/>
              <a:t>GET /accounts/{id}/transactions</a:t>
            </a:r>
            <a:endParaRPr lang="en-US" sz="1200" b="1" smtClean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smtClean="0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655995-6C57-4BC3-AA2A-050BE1DFD26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2890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70160-1B56-42B4-AE50-50C09328D2E5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2402A-EEC3-4ADE-8BD3-DC5211CD1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600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70160-1B56-42B4-AE50-50C09328D2E5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2402A-EEC3-4ADE-8BD3-DC5211CD1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465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70160-1B56-42B4-AE50-50C09328D2E5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2402A-EEC3-4ADE-8BD3-DC5211CD1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824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70160-1B56-42B4-AE50-50C09328D2E5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2402A-EEC3-4ADE-8BD3-DC5211CD1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988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70160-1B56-42B4-AE50-50C09328D2E5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2402A-EEC3-4ADE-8BD3-DC5211CD1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272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70160-1B56-42B4-AE50-50C09328D2E5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2402A-EEC3-4ADE-8BD3-DC5211CD1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862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70160-1B56-42B4-AE50-50C09328D2E5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2402A-EEC3-4ADE-8BD3-DC5211CD1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45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70160-1B56-42B4-AE50-50C09328D2E5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2402A-EEC3-4ADE-8BD3-DC5211CD1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890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70160-1B56-42B4-AE50-50C09328D2E5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2402A-EEC3-4ADE-8BD3-DC5211CD1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567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70160-1B56-42B4-AE50-50C09328D2E5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2402A-EEC3-4ADE-8BD3-DC5211CD1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252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70160-1B56-42B4-AE50-50C09328D2E5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2402A-EEC3-4ADE-8BD3-DC5211CD1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238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70160-1B56-42B4-AE50-50C09328D2E5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52402A-EEC3-4ADE-8BD3-DC5211CD1B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189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jp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7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05" y="-19050"/>
            <a:ext cx="12191695" cy="6858000"/>
          </a:xfrm>
          <a:prstGeom prst="rect">
            <a:avLst/>
          </a:prstGeom>
          <a:gradFill rotWithShape="1">
            <a:gsLst>
              <a:gs pos="0">
                <a:srgbClr val="FEFEFE">
                  <a:alpha val="95000"/>
                </a:srgbClr>
              </a:gs>
              <a:gs pos="50000">
                <a:srgbClr val="FEFEFE">
                  <a:alpha val="90000"/>
                </a:srgbClr>
              </a:gs>
              <a:gs pos="100000">
                <a:srgbClr val="1399FF">
                  <a:alpha val="5000"/>
                </a:srgbClr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6733" y="2225366"/>
            <a:ext cx="3631059" cy="152144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5005"/>
              </a:lnSpc>
              <a:spcBef>
                <a:spcPts val="0"/>
              </a:spcBef>
              <a:spcAft>
                <a:spcPts val="1040"/>
              </a:spcAft>
            </a:pPr>
            <a:r>
              <a:rPr sz="3707" b="1">
                <a:solidFill>
                  <a:srgbClr val="000000"/>
                </a:solidFill>
                <a:latin typeface="Source Code Pro"/>
              </a:rPr>
              <a:t> Hệ Thống</a:t>
            </a:r>
            <a:r>
              <a:rPr sz="1104"/>
              <a:t>
</a:t>
            </a:r>
            <a:r>
              <a:rPr sz="3707" b="1">
                <a:solidFill>
                  <a:srgbClr val="000000"/>
                </a:solidFill>
                <a:latin typeface="Source Code Pro"/>
              </a:rPr>
              <a:t> </a:t>
            </a:r>
            <a:r>
              <a:rPr sz="3707" b="1">
                <a:solidFill>
                  <a:schemeClr val="accent2"/>
                </a:solidFill>
                <a:latin typeface="Source Code Pro"/>
              </a:rPr>
              <a:t>Open Banking</a:t>
            </a:r>
            <a:r>
              <a:rPr sz="3707" b="1">
                <a:solidFill>
                  <a:srgbClr val="000000"/>
                </a:solidFill>
                <a:latin typeface="Source Code Pro"/>
              </a:rPr>
              <a:t>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3408" y="3690936"/>
            <a:ext cx="3295667" cy="55871"/>
          </a:xfrm>
          <a:prstGeom prst="roundRect">
            <a:avLst>
              <a:gd name="adj" fmla="val 200000"/>
            </a:avLst>
          </a:prstGeom>
          <a:solidFill>
            <a:schemeClr val="accent2"/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6733" y="5991224"/>
            <a:ext cx="1053430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smtClean="0">
                <a:solidFill>
                  <a:srgbClr val="6B7280"/>
                </a:solidFill>
                <a:latin typeface="Roboto Flex"/>
              </a:rPr>
              <a:t>MAR, 2026</a:t>
            </a:r>
            <a:endParaRPr sz="1400" b="1">
              <a:solidFill>
                <a:srgbClr val="6B7280"/>
              </a:solidFill>
              <a:latin typeface="Roboto Flex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505512" y="1695449"/>
            <a:ext cx="4019449" cy="1181099"/>
          </a:xfrm>
          <a:prstGeom prst="roundRect">
            <a:avLst>
              <a:gd name="adj" fmla="val 25806"/>
            </a:avLst>
          </a:prstGeom>
          <a:solidFill>
            <a:srgbClr val="FFFFFF">
              <a:alpha val="95000"/>
            </a:srgbClr>
          </a:solidFill>
          <a:ln w="8255"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705532" y="1885950"/>
            <a:ext cx="533386" cy="533399"/>
          </a:xfrm>
          <a:prstGeom prst="roundRect">
            <a:avLst>
              <a:gd name="adj" fmla="val 42857"/>
            </a:avLst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29354" y="2018522"/>
            <a:ext cx="285742" cy="26825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391315" y="1861026"/>
            <a:ext cx="969624" cy="354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chemeClr val="tx2"/>
                </a:solidFill>
                <a:latin typeface="Source Code Pro"/>
              </a:rPr>
              <a:t>Open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1315" y="2228850"/>
            <a:ext cx="2933626" cy="4381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Roboto Flex"/>
              </a:rPr>
              <a:t>Lớp nền tảng, năng lực lõi và business capabilities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05512" y="3057525"/>
            <a:ext cx="4019449" cy="962024"/>
          </a:xfrm>
          <a:prstGeom prst="roundRect">
            <a:avLst>
              <a:gd name="adj" fmla="val 31683"/>
            </a:avLst>
          </a:prstGeom>
          <a:solidFill>
            <a:srgbClr val="FFFFFF">
              <a:alpha val="95000"/>
            </a:srgbClr>
          </a:solidFill>
          <a:ln w="8255"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705532" y="3257550"/>
            <a:ext cx="533386" cy="533399"/>
          </a:xfrm>
          <a:prstGeom prst="roundRect">
            <a:avLst>
              <a:gd name="adj" fmla="val 42857"/>
            </a:avLst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29354" y="3390122"/>
            <a:ext cx="285742" cy="26825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391315" y="3232626"/>
            <a:ext cx="2060116" cy="354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chemeClr val="tx2"/>
                </a:solidFill>
                <a:latin typeface="Source Code Pro"/>
              </a:rPr>
              <a:t>Consent Management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1315" y="3600450"/>
            <a:ext cx="2933626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Roboto Flex"/>
              </a:rPr>
              <a:t>Quản lý quyền truy cập và xác nhận giao dịch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05512" y="4210049"/>
            <a:ext cx="4019449" cy="962024"/>
          </a:xfrm>
          <a:prstGeom prst="roundRect">
            <a:avLst>
              <a:gd name="adj" fmla="val 31683"/>
            </a:avLst>
          </a:prstGeom>
          <a:solidFill>
            <a:srgbClr val="FFFFFF">
              <a:alpha val="95000"/>
            </a:srgbClr>
          </a:solidFill>
          <a:ln w="8255"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705532" y="4410074"/>
            <a:ext cx="533386" cy="533399"/>
          </a:xfrm>
          <a:prstGeom prst="roundRect">
            <a:avLst>
              <a:gd name="adj" fmla="val 42857"/>
            </a:avLst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29354" y="4565973"/>
            <a:ext cx="285742" cy="22160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391315" y="4385150"/>
            <a:ext cx="679930" cy="354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260"/>
              </a:spcAft>
            </a:pPr>
            <a:r>
              <a:rPr sz="1435" b="1">
                <a:solidFill>
                  <a:schemeClr val="tx2"/>
                </a:solidFill>
                <a:latin typeface="Source Code Pro"/>
              </a:rPr>
              <a:t>C-IAM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1315" y="4752974"/>
            <a:ext cx="2933626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Roboto Flex"/>
              </a:rPr>
              <a:t>Quản lý danh tính và quyền truy cập khách hàng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44B54B"/>
              </a:gs>
              <a:gs pos="50000">
                <a:srgbClr val="1399FF"/>
              </a:gs>
              <a:gs pos="100000">
                <a:srgbClr val="44B54B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4167061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66733" y="209550"/>
            <a:ext cx="38099" cy="380999"/>
          </a:xfrm>
          <a:prstGeom prst="roundRect">
            <a:avLst>
              <a:gd name="adj" fmla="val 200000"/>
            </a:avLst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2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1849" y="146325"/>
            <a:ext cx="1516505" cy="4442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chemeClr val="accent2"/>
                </a:solidFill>
                <a:latin typeface="Source Code Pro"/>
              </a:rPr>
              <a:t>Open 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2368" y="1252607"/>
            <a:ext cx="6100710" cy="1485900"/>
          </a:xfrm>
          <a:prstGeom prst="roundRect">
            <a:avLst>
              <a:gd name="adj" fmla="val 15384"/>
            </a:avLst>
          </a:prstGeom>
          <a:solidFill>
            <a:srgbClr val="FFFFFF">
              <a:alpha val="95000"/>
            </a:srgbClr>
          </a:solidFill>
          <a:ln w="16510"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1913" y="1462157"/>
            <a:ext cx="457188" cy="457200"/>
          </a:xfrm>
          <a:prstGeom prst="roundRect">
            <a:avLst>
              <a:gd name="adj" fmla="val 33333"/>
            </a:avLst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FFC000"/>
              </a:solidFill>
            </a:endParaRP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6210" y="1596459"/>
            <a:ext cx="228594" cy="18859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91497" y="1436072"/>
            <a:ext cx="1880579" cy="31887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latin typeface="Source Code Pro"/>
              </a:rPr>
              <a:t>Layer A - Lớp Nền Tảng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1497" y="1766956"/>
            <a:ext cx="5181470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Roboto Flex"/>
              </a:rPr>
              <a:t>Platform Domains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913" y="2071757"/>
            <a:ext cx="1876378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Roboto Flex"/>
              </a:rPr>
              <a:t>  Access &amp; Authorization 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913" y="2128907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44B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34489" y="2071757"/>
            <a:ext cx="1876378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Roboto Flex"/>
              </a:rPr>
              <a:t>  Partner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34489" y="2128907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44B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6590" y="2071757"/>
            <a:ext cx="1876378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Roboto Flex"/>
              </a:rPr>
              <a:t>  Discovery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96590" y="2128907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44B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1913" y="2338456"/>
            <a:ext cx="1876378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Roboto Flex"/>
              </a:rPr>
              <a:t>  Consumption 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1913" y="2395606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44B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634489" y="2338456"/>
            <a:ext cx="1876378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Roboto Flex"/>
              </a:rPr>
              <a:t>  Environment &amp; Governance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34489" y="2395606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44B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96590" y="2338456"/>
            <a:ext cx="1876378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Roboto Flex"/>
              </a:rPr>
              <a:t>  Operation 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96590" y="2395606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44B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72368" y="2929007"/>
            <a:ext cx="6100710" cy="1219200"/>
          </a:xfrm>
          <a:prstGeom prst="roundRect">
            <a:avLst>
              <a:gd name="adj" fmla="val 18750"/>
            </a:avLst>
          </a:prstGeom>
          <a:solidFill>
            <a:srgbClr val="FFFFFF">
              <a:alpha val="95000"/>
            </a:srgbClr>
          </a:solidFill>
          <a:ln w="16510"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81913" y="3138556"/>
            <a:ext cx="457188" cy="457200"/>
          </a:xfrm>
          <a:prstGeom prst="roundRect">
            <a:avLst>
              <a:gd name="adj" fmla="val 33333"/>
            </a:avLst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210" y="3270002"/>
            <a:ext cx="228594" cy="194309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291497" y="3112471"/>
            <a:ext cx="1832489" cy="31887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latin typeface="Source Code Pro"/>
              </a:rPr>
              <a:t>Layer B - Năng Lực Lõi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91497" y="3443356"/>
            <a:ext cx="5181470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Roboto Flex"/>
              </a:rPr>
              <a:t>Additional Core Services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913" y="3748157"/>
            <a:ext cx="1876378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Roboto Flex"/>
              </a:rPr>
              <a:t>  Consent Management 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1913" y="3805307"/>
            <a:ext cx="57148" cy="57150"/>
          </a:xfrm>
          <a:prstGeom prst="roundRect">
            <a:avLst>
              <a:gd name="adj" fmla="val 333300000"/>
            </a:avLst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634489" y="3748157"/>
            <a:ext cx="1876378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Roboto Flex"/>
              </a:rPr>
              <a:t>  CIAM Integration 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634489" y="3805307"/>
            <a:ext cx="57148" cy="57150"/>
          </a:xfrm>
          <a:prstGeom prst="roundRect">
            <a:avLst>
              <a:gd name="adj" fmla="val 333300000"/>
            </a:avLst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96590" y="3748157"/>
            <a:ext cx="1876378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Roboto Flex"/>
              </a:rPr>
              <a:t>  TPP Management 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96590" y="3805307"/>
            <a:ext cx="57148" cy="57150"/>
          </a:xfrm>
          <a:prstGeom prst="roundRect">
            <a:avLst>
              <a:gd name="adj" fmla="val 333300000"/>
            </a:avLst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472368" y="4338707"/>
            <a:ext cx="6100710" cy="1295399"/>
          </a:xfrm>
          <a:prstGeom prst="roundRect">
            <a:avLst>
              <a:gd name="adj" fmla="val 17647"/>
            </a:avLst>
          </a:prstGeom>
          <a:solidFill>
            <a:srgbClr val="FFFFFF">
              <a:alpha val="95000"/>
            </a:srgbClr>
          </a:solidFill>
          <a:ln w="16510"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81913" y="4548257"/>
            <a:ext cx="457188" cy="457200"/>
          </a:xfrm>
          <a:prstGeom prst="roundRect">
            <a:avLst>
              <a:gd name="adj" fmla="val 33333"/>
            </a:avLst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6210" y="4688274"/>
            <a:ext cx="228594" cy="17716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291497" y="4522172"/>
            <a:ext cx="2430409" cy="31887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latin typeface="Source Code Pro"/>
              </a:rPr>
              <a:t>Layer C - Business Capabilities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91497" y="4853057"/>
            <a:ext cx="5181470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Roboto Flex"/>
              </a:rPr>
              <a:t>Exposed External Services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1913" y="5157856"/>
            <a:ext cx="1390615" cy="266699"/>
          </a:xfrm>
          <a:prstGeom prst="roundRect">
            <a:avLst>
              <a:gd name="adj" fmla="val 28571"/>
            </a:avLst>
          </a:prstGeom>
          <a:solidFill>
            <a:srgbClr val="1399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81913" y="5157856"/>
            <a:ext cx="139061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1399FF"/>
                </a:solidFill>
                <a:latin typeface="Roboto Flex"/>
              </a:rPr>
              <a:t>Public APIs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148726" y="5157856"/>
            <a:ext cx="1390615" cy="266699"/>
          </a:xfrm>
          <a:prstGeom prst="roundRect">
            <a:avLst>
              <a:gd name="adj" fmla="val 28571"/>
            </a:avLst>
          </a:prstGeom>
          <a:solidFill>
            <a:srgbClr val="1399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148726" y="5157856"/>
            <a:ext cx="139061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1399FF"/>
                </a:solidFill>
                <a:latin typeface="Roboto Flex"/>
              </a:rPr>
              <a:t>AIS APIs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615539" y="5157856"/>
            <a:ext cx="1390615" cy="266699"/>
          </a:xfrm>
          <a:prstGeom prst="roundRect">
            <a:avLst>
              <a:gd name="adj" fmla="val 28571"/>
            </a:avLst>
          </a:prstGeom>
          <a:solidFill>
            <a:srgbClr val="1399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615539" y="5157856"/>
            <a:ext cx="139061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1399FF"/>
                </a:solidFill>
                <a:latin typeface="Roboto Flex"/>
              </a:rPr>
              <a:t>PIS APIs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82353" y="5157856"/>
            <a:ext cx="1390615" cy="266699"/>
          </a:xfrm>
          <a:prstGeom prst="roundRect">
            <a:avLst>
              <a:gd name="adj" fmla="val 28571"/>
            </a:avLst>
          </a:prstGeom>
          <a:solidFill>
            <a:srgbClr val="1399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082353" y="5157856"/>
            <a:ext cx="139061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1399FF"/>
                </a:solidFill>
                <a:latin typeface="Roboto Flex"/>
              </a:rPr>
              <a:t>Wallet APIs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725474" y="1252608"/>
            <a:ext cx="5425280" cy="2895599"/>
          </a:xfrm>
          <a:prstGeom prst="round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0" y="6800850"/>
            <a:ext cx="12191695" cy="57150"/>
          </a:xfrm>
          <a:prstGeom prst="rect">
            <a:avLst/>
          </a:prstGeom>
          <a:gradFill rotWithShape="1">
            <a:gsLst>
              <a:gs pos="0">
                <a:srgbClr val="44B54B"/>
              </a:gs>
              <a:gs pos="50000">
                <a:srgbClr val="1399FF"/>
              </a:gs>
              <a:gs pos="100000">
                <a:srgbClr val="44B54B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3195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66733" y="209550"/>
            <a:ext cx="38099" cy="380999"/>
          </a:xfrm>
          <a:prstGeom prst="roundRect">
            <a:avLst>
              <a:gd name="adj" fmla="val 200000"/>
            </a:avLst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2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57228" y="177938"/>
            <a:ext cx="4948727" cy="4442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chemeClr val="accent2"/>
                </a:solidFill>
                <a:latin typeface="Source Code Pro"/>
              </a:rPr>
              <a:t>Các Domain trong Open Banking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114425"/>
            <a:ext cx="3066973" cy="1552575"/>
          </a:xfrm>
          <a:prstGeom prst="roundRect">
            <a:avLst>
              <a:gd name="adj" fmla="val 11881"/>
            </a:avLst>
          </a:prstGeom>
          <a:solidFill>
            <a:srgbClr val="FFFFFF">
              <a:alpha val="95000"/>
            </a:srgbClr>
          </a:solidFill>
          <a:ln w="8255"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8654" y="1276350"/>
            <a:ext cx="380990" cy="380999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23901" y="1385607"/>
            <a:ext cx="190495" cy="1624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23941" y="1309178"/>
            <a:ext cx="808170" cy="315343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latin typeface="Source Code Pro"/>
              </a:rPr>
              <a:t>Discovery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54" y="1771650"/>
            <a:ext cx="2743131" cy="247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Roboto Flex"/>
              </a:rPr>
              <a:t>API catalog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654" y="2057400"/>
            <a:ext cx="2743131" cy="247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Roboto Flex"/>
              </a:rPr>
              <a:t>Documentation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654" y="2343150"/>
            <a:ext cx="2743131" cy="247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Roboto Flex"/>
              </a:rPr>
              <a:t>Try-out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86102" y="1114425"/>
            <a:ext cx="3066973" cy="1552575"/>
          </a:xfrm>
          <a:prstGeom prst="roundRect">
            <a:avLst>
              <a:gd name="adj" fmla="val 11881"/>
            </a:avLst>
          </a:prstGeom>
          <a:solidFill>
            <a:srgbClr val="FFFFFF">
              <a:alpha val="95000"/>
            </a:srgbClr>
          </a:solidFill>
          <a:ln w="8255"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048023" y="1276350"/>
            <a:ext cx="380990" cy="380999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3271" y="1449046"/>
            <a:ext cx="190495" cy="3560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43311" y="1296034"/>
            <a:ext cx="1042208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latin typeface="Source Code Pro"/>
              </a:rPr>
              <a:t>Consumption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48023" y="1771650"/>
            <a:ext cx="2743131" cy="247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Roboto Flex"/>
              </a:rPr>
              <a:t>Application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8023" y="2057400"/>
            <a:ext cx="2743131" cy="247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Roboto Flex"/>
              </a:rPr>
              <a:t>Subscription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14816" y="1758723"/>
            <a:ext cx="2743131" cy="247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Roboto Flex"/>
              </a:rPr>
              <a:t>Credential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4816" y="2044473"/>
            <a:ext cx="2743131" cy="247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Roboto Flex"/>
              </a:rPr>
              <a:t>Security material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6733" y="2893898"/>
            <a:ext cx="3066973" cy="1638299"/>
          </a:xfrm>
          <a:prstGeom prst="roundRect">
            <a:avLst>
              <a:gd name="adj" fmla="val 13953"/>
            </a:avLst>
          </a:prstGeom>
          <a:solidFill>
            <a:srgbClr val="FFFFFF">
              <a:alpha val="95000"/>
            </a:srgbClr>
          </a:solidFill>
          <a:ln w="8255"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28654" y="3055824"/>
            <a:ext cx="380990" cy="380999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3901" y="3159478"/>
            <a:ext cx="190495" cy="17369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323941" y="3024212"/>
            <a:ext cx="1021370" cy="4442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latin typeface="Source Code Pro"/>
              </a:rPr>
              <a:t>Environment &amp;</a:t>
            </a:r>
            <a:r>
              <a:rPr sz="1104"/>
              <a:t>
</a:t>
            </a:r>
            <a:r>
              <a:rPr sz="956" b="1">
                <a:latin typeface="Source Code Pro"/>
              </a:rPr>
              <a:t>Governance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654" y="3551123"/>
            <a:ext cx="2743131" cy="247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Roboto Flex"/>
              </a:rPr>
              <a:t>Sandbox/UAT/Prod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654" y="3836873"/>
            <a:ext cx="2743131" cy="247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Roboto Flex"/>
              </a:rPr>
              <a:t>Approval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654" y="4122624"/>
            <a:ext cx="2743131" cy="247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Roboto Flex"/>
              </a:rPr>
              <a:t>Policy môi trường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86102" y="2893898"/>
            <a:ext cx="3066973" cy="1638299"/>
          </a:xfrm>
          <a:prstGeom prst="roundRect">
            <a:avLst>
              <a:gd name="adj" fmla="val 13953"/>
            </a:avLst>
          </a:prstGeom>
          <a:solidFill>
            <a:srgbClr val="FFFFFF">
              <a:alpha val="95000"/>
            </a:srgbClr>
          </a:solidFill>
          <a:ln w="8255"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048023" y="3055824"/>
            <a:ext cx="380990" cy="380999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43271" y="3170684"/>
            <a:ext cx="190495" cy="15127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543311" y="3075508"/>
            <a:ext cx="630237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latin typeface="Source Code Pro"/>
              </a:rPr>
              <a:t>Partner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48023" y="3551123"/>
            <a:ext cx="2743131" cy="247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Roboto Flex"/>
              </a:rPr>
              <a:t>Quản lý TPP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48023" y="3836873"/>
            <a:ext cx="2743131" cy="247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Roboto Flex"/>
              </a:rPr>
              <a:t>Hợp đồng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48023" y="4122624"/>
            <a:ext cx="2743131" cy="247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Roboto Flex"/>
              </a:rPr>
              <a:t>Trạng thái hoạt động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6733" y="4684598"/>
            <a:ext cx="3066973" cy="1644765"/>
          </a:xfrm>
          <a:prstGeom prst="roundRect">
            <a:avLst>
              <a:gd name="adj" fmla="val 11881"/>
            </a:avLst>
          </a:prstGeom>
          <a:solidFill>
            <a:srgbClr val="FFFFFF">
              <a:alpha val="95000"/>
            </a:srgbClr>
          </a:solidFill>
          <a:ln w="8255"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28654" y="4846524"/>
            <a:ext cx="380990" cy="380999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23901" y="4961384"/>
            <a:ext cx="190495" cy="151279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323941" y="4814912"/>
            <a:ext cx="938014" cy="4442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latin typeface="Source Code Pro"/>
              </a:rPr>
              <a:t>Access &amp;</a:t>
            </a:r>
            <a:r>
              <a:rPr sz="1104"/>
              <a:t>
</a:t>
            </a:r>
            <a:r>
              <a:rPr sz="956" b="1">
                <a:latin typeface="Source Code Pro"/>
              </a:rPr>
              <a:t>Authorization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8654" y="5341823"/>
            <a:ext cx="2743131" cy="247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Roboto Flex"/>
              </a:rPr>
              <a:t>Tích hợp CIAM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8654" y="5627573"/>
            <a:ext cx="2743131" cy="247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Roboto Flex"/>
              </a:rPr>
              <a:t>OAuth2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8654" y="5913323"/>
            <a:ext cx="2743131" cy="247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Roboto Flex"/>
              </a:rPr>
              <a:t>Policy enforcement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886102" y="4684598"/>
            <a:ext cx="3066973" cy="1644765"/>
          </a:xfrm>
          <a:prstGeom prst="roundRect">
            <a:avLst>
              <a:gd name="adj" fmla="val 11881"/>
            </a:avLst>
          </a:prstGeom>
          <a:solidFill>
            <a:srgbClr val="FFFFFF">
              <a:alpha val="95000"/>
            </a:srgbClr>
          </a:solidFill>
          <a:ln w="8255"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4048023" y="4846524"/>
            <a:ext cx="380990" cy="380999"/>
          </a:xfrm>
          <a:prstGeom prst="roundRect">
            <a:avLst>
              <a:gd name="adj" fmla="val 40000"/>
            </a:avLst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43271" y="4961384"/>
            <a:ext cx="190495" cy="151279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543311" y="4866208"/>
            <a:ext cx="801758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latin typeface="Source Code Pro"/>
              </a:rPr>
              <a:t>Operation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48023" y="5341823"/>
            <a:ext cx="2743131" cy="247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Roboto Flex"/>
              </a:rPr>
              <a:t>Audit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048023" y="5627573"/>
            <a:ext cx="2743131" cy="247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Roboto Flex"/>
              </a:rPr>
              <a:t>Analytics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14816" y="5332298"/>
            <a:ext cx="2743131" cy="247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Roboto Flex"/>
              </a:rPr>
              <a:t>Notification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14816" y="5618048"/>
            <a:ext cx="2743131" cy="2476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Roboto Flex"/>
              </a:rPr>
              <a:t>Support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429312" y="1129756"/>
            <a:ext cx="4114697" cy="1847849"/>
          </a:xfrm>
          <a:prstGeom prst="roundRect">
            <a:avLst>
              <a:gd name="adj" fmla="val 16494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7619807" y="1320257"/>
            <a:ext cx="457188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734105" y="1440271"/>
            <a:ext cx="228594" cy="21717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8191293" y="1320257"/>
            <a:ext cx="3162220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Source Code Pro"/>
              </a:rPr>
              <a:t>Consent Management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91293" y="1625056"/>
            <a:ext cx="3162220" cy="1524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FFFFFF"/>
                </a:solidFill>
                <a:latin typeface="Roboto Flex"/>
              </a:rPr>
              <a:t>Capability lõi tích hợp ngang</a:t>
            </a:r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619807" y="1959792"/>
            <a:ext cx="152396" cy="130628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7848402" y="1891757"/>
            <a:ext cx="1447763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 Flex"/>
              </a:rPr>
              <a:t>Xác nhận quyền truy cập</a:t>
            </a:r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619807" y="2283642"/>
            <a:ext cx="152396" cy="130628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7848402" y="2215607"/>
            <a:ext cx="1123921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 Flex"/>
              </a:rPr>
              <a:t>Xác nhận giao dịch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619807" y="2607492"/>
            <a:ext cx="152396" cy="130628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7848402" y="2539456"/>
            <a:ext cx="1800179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 Flex"/>
              </a:rPr>
              <a:t>Quản lý quyền của khách hàng</a:t>
            </a:r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562660" y="6084016"/>
            <a:ext cx="171445" cy="138266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7810304" y="6057900"/>
            <a:ext cx="1609684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Roboto Flex"/>
              </a:rPr>
              <a:t>Open Banking Architecture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6795741"/>
            <a:ext cx="12191695" cy="57150"/>
          </a:xfrm>
          <a:prstGeom prst="rect">
            <a:avLst/>
          </a:prstGeom>
          <a:gradFill rotWithShape="1">
            <a:gsLst>
              <a:gs pos="0">
                <a:srgbClr val="44B54B"/>
              </a:gs>
              <a:gs pos="50000">
                <a:srgbClr val="1399FF"/>
              </a:gs>
              <a:gs pos="100000">
                <a:srgbClr val="44B54B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766725" y="1876425"/>
            <a:ext cx="57148" cy="57150"/>
          </a:xfrm>
          <a:prstGeom prst="roundRect">
            <a:avLst>
              <a:gd name="adj" fmla="val 333300000"/>
            </a:avLst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2"/>
              </a:solidFill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761981" y="2177313"/>
            <a:ext cx="57148" cy="57150"/>
          </a:xfrm>
          <a:prstGeom prst="roundRect">
            <a:avLst>
              <a:gd name="adj" fmla="val 333300000"/>
            </a:avLst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2"/>
              </a:solidFill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761981" y="2478202"/>
            <a:ext cx="57148" cy="57150"/>
          </a:xfrm>
          <a:prstGeom prst="roundRect">
            <a:avLst>
              <a:gd name="adj" fmla="val 333300000"/>
            </a:avLst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2"/>
              </a:solidFill>
            </a:endParaRPr>
          </a:p>
        </p:txBody>
      </p:sp>
      <p:sp>
        <p:nvSpPr>
          <p:cNvPr id="67" name="Rounded Rectangle 66"/>
          <p:cNvSpPr/>
          <p:nvPr/>
        </p:nvSpPr>
        <p:spPr>
          <a:xfrm>
            <a:off x="771506" y="3628193"/>
            <a:ext cx="57148" cy="57150"/>
          </a:xfrm>
          <a:prstGeom prst="roundRect">
            <a:avLst>
              <a:gd name="adj" fmla="val 333300000"/>
            </a:avLst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2"/>
              </a:solidFill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766762" y="3929081"/>
            <a:ext cx="57148" cy="57150"/>
          </a:xfrm>
          <a:prstGeom prst="roundRect">
            <a:avLst>
              <a:gd name="adj" fmla="val 333300000"/>
            </a:avLst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2"/>
              </a:solidFill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766762" y="4229970"/>
            <a:ext cx="57148" cy="57150"/>
          </a:xfrm>
          <a:prstGeom prst="roundRect">
            <a:avLst>
              <a:gd name="adj" fmla="val 333300000"/>
            </a:avLst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2"/>
              </a:solidFill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3995619" y="3633445"/>
            <a:ext cx="57148" cy="57150"/>
          </a:xfrm>
          <a:prstGeom prst="roundRect">
            <a:avLst>
              <a:gd name="adj" fmla="val 333300000"/>
            </a:avLst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2"/>
              </a:solidFill>
            </a:endParaRPr>
          </a:p>
        </p:txBody>
      </p:sp>
      <p:sp>
        <p:nvSpPr>
          <p:cNvPr id="71" name="Rounded Rectangle 70"/>
          <p:cNvSpPr/>
          <p:nvPr/>
        </p:nvSpPr>
        <p:spPr>
          <a:xfrm>
            <a:off x="3990875" y="3934333"/>
            <a:ext cx="57148" cy="57150"/>
          </a:xfrm>
          <a:prstGeom prst="roundRect">
            <a:avLst>
              <a:gd name="adj" fmla="val 333300000"/>
            </a:avLst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2"/>
              </a:solidFill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3990875" y="4235222"/>
            <a:ext cx="57148" cy="57150"/>
          </a:xfrm>
          <a:prstGeom prst="roundRect">
            <a:avLst>
              <a:gd name="adj" fmla="val 333300000"/>
            </a:avLst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2"/>
              </a:solidFill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3995618" y="1868896"/>
            <a:ext cx="54864" cy="54864"/>
          </a:xfrm>
          <a:prstGeom prst="roundRect">
            <a:avLst>
              <a:gd name="adj" fmla="val 333300000"/>
            </a:avLst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2"/>
              </a:solidFill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3990874" y="2169784"/>
            <a:ext cx="54864" cy="54864"/>
          </a:xfrm>
          <a:prstGeom prst="roundRect">
            <a:avLst>
              <a:gd name="adj" fmla="val 333300000"/>
            </a:avLst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2"/>
              </a:solidFill>
            </a:endParaRPr>
          </a:p>
        </p:txBody>
      </p:sp>
      <p:sp>
        <p:nvSpPr>
          <p:cNvPr id="76" name="Rounded Rectangle 75"/>
          <p:cNvSpPr/>
          <p:nvPr/>
        </p:nvSpPr>
        <p:spPr>
          <a:xfrm>
            <a:off x="795299" y="5424994"/>
            <a:ext cx="57148" cy="57150"/>
          </a:xfrm>
          <a:prstGeom prst="roundRect">
            <a:avLst>
              <a:gd name="adj" fmla="val 333300000"/>
            </a:avLst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2"/>
              </a:solidFill>
            </a:endParaRPr>
          </a:p>
        </p:txBody>
      </p:sp>
      <p:sp>
        <p:nvSpPr>
          <p:cNvPr id="77" name="Rounded Rectangle 76"/>
          <p:cNvSpPr/>
          <p:nvPr/>
        </p:nvSpPr>
        <p:spPr>
          <a:xfrm>
            <a:off x="790555" y="5725882"/>
            <a:ext cx="57148" cy="57150"/>
          </a:xfrm>
          <a:prstGeom prst="roundRect">
            <a:avLst>
              <a:gd name="adj" fmla="val 333300000"/>
            </a:avLst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2"/>
              </a:solidFill>
            </a:endParaRPr>
          </a:p>
        </p:txBody>
      </p:sp>
      <p:sp>
        <p:nvSpPr>
          <p:cNvPr id="78" name="Rounded Rectangle 77"/>
          <p:cNvSpPr/>
          <p:nvPr/>
        </p:nvSpPr>
        <p:spPr>
          <a:xfrm>
            <a:off x="790555" y="6026771"/>
            <a:ext cx="57148" cy="57150"/>
          </a:xfrm>
          <a:prstGeom prst="roundRect">
            <a:avLst>
              <a:gd name="adj" fmla="val 333300000"/>
            </a:avLst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2"/>
              </a:solidFill>
            </a:endParaRPr>
          </a:p>
        </p:txBody>
      </p:sp>
      <p:sp>
        <p:nvSpPr>
          <p:cNvPr id="79" name="Rounded Rectangle 78"/>
          <p:cNvSpPr/>
          <p:nvPr/>
        </p:nvSpPr>
        <p:spPr>
          <a:xfrm>
            <a:off x="4024193" y="5440985"/>
            <a:ext cx="57148" cy="57150"/>
          </a:xfrm>
          <a:prstGeom prst="roundRect">
            <a:avLst>
              <a:gd name="adj" fmla="val 333300000"/>
            </a:avLst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2"/>
              </a:solidFill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4019449" y="5741873"/>
            <a:ext cx="57148" cy="57150"/>
          </a:xfrm>
          <a:prstGeom prst="roundRect">
            <a:avLst>
              <a:gd name="adj" fmla="val 333300000"/>
            </a:avLst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2"/>
              </a:solidFill>
            </a:endParaRPr>
          </a:p>
        </p:txBody>
      </p:sp>
      <p:sp>
        <p:nvSpPr>
          <p:cNvPr id="82" name="Rounded Rectangle 81"/>
          <p:cNvSpPr/>
          <p:nvPr/>
        </p:nvSpPr>
        <p:spPr>
          <a:xfrm>
            <a:off x="5286242" y="5430184"/>
            <a:ext cx="57148" cy="57150"/>
          </a:xfrm>
          <a:prstGeom prst="roundRect">
            <a:avLst>
              <a:gd name="adj" fmla="val 333300000"/>
            </a:avLst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2"/>
              </a:solidFill>
            </a:endParaRPr>
          </a:p>
        </p:txBody>
      </p:sp>
      <p:sp>
        <p:nvSpPr>
          <p:cNvPr id="83" name="Rounded Rectangle 82"/>
          <p:cNvSpPr/>
          <p:nvPr/>
        </p:nvSpPr>
        <p:spPr>
          <a:xfrm>
            <a:off x="5281498" y="5731072"/>
            <a:ext cx="57148" cy="57150"/>
          </a:xfrm>
          <a:prstGeom prst="roundRect">
            <a:avLst>
              <a:gd name="adj" fmla="val 333300000"/>
            </a:avLst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2"/>
              </a:solidFill>
            </a:endParaRPr>
          </a:p>
        </p:txBody>
      </p:sp>
      <p:sp>
        <p:nvSpPr>
          <p:cNvPr id="84" name="Rounded Rectangle 83"/>
          <p:cNvSpPr/>
          <p:nvPr/>
        </p:nvSpPr>
        <p:spPr>
          <a:xfrm>
            <a:off x="5297670" y="1854510"/>
            <a:ext cx="54864" cy="54864"/>
          </a:xfrm>
          <a:prstGeom prst="roundRect">
            <a:avLst>
              <a:gd name="adj" fmla="val 333300000"/>
            </a:avLst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2"/>
              </a:solidFill>
            </a:endParaRPr>
          </a:p>
        </p:txBody>
      </p:sp>
      <p:sp>
        <p:nvSpPr>
          <p:cNvPr id="85" name="Rounded Rectangle 84"/>
          <p:cNvSpPr/>
          <p:nvPr/>
        </p:nvSpPr>
        <p:spPr>
          <a:xfrm>
            <a:off x="5292926" y="2155398"/>
            <a:ext cx="54864" cy="54864"/>
          </a:xfrm>
          <a:prstGeom prst="roundRect">
            <a:avLst>
              <a:gd name="adj" fmla="val 333300000"/>
            </a:avLst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181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436227" y="623725"/>
            <a:ext cx="3548544" cy="4889182"/>
          </a:xfrm>
          <a:prstGeom prst="roundRect">
            <a:avLst>
              <a:gd name="adj" fmla="val 8984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4290015" y="623725"/>
            <a:ext cx="3548544" cy="4889181"/>
          </a:xfrm>
          <a:prstGeom prst="roundRect">
            <a:avLst>
              <a:gd name="adj" fmla="val 8984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8177867" y="623724"/>
            <a:ext cx="3548544" cy="4889182"/>
          </a:xfrm>
          <a:prstGeom prst="roundRect">
            <a:avLst>
              <a:gd name="adj" fmla="val 8984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548526" y="747285"/>
            <a:ext cx="3289883" cy="3985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smtClean="0">
                <a:latin typeface="Roboto Flex"/>
              </a:rPr>
              <a:t>Access &amp; Authorization Domain</a:t>
            </a:r>
            <a:endParaRPr lang="en-US" sz="1100" smtClean="0">
              <a:latin typeface="Roboto Flex"/>
            </a:endParaRPr>
          </a:p>
          <a:p>
            <a:pPr marL="171450" indent="-171450">
              <a:buFontTx/>
              <a:buChar char="-"/>
            </a:pPr>
            <a:r>
              <a:rPr lang="en-US" sz="1100" smtClean="0">
                <a:latin typeface="Roboto Flex"/>
              </a:rPr>
              <a:t>CIAM Integration &amp; OAuth2</a:t>
            </a:r>
          </a:p>
          <a:p>
            <a:pPr marL="171450" indent="-171450">
              <a:buFontTx/>
              <a:buChar char="-"/>
            </a:pPr>
            <a:endParaRPr lang="en-US" sz="1100">
              <a:latin typeface="Roboto Flex"/>
            </a:endParaRPr>
          </a:p>
          <a:p>
            <a:r>
              <a:rPr lang="en-US" sz="1100" b="1" smtClean="0">
                <a:latin typeface="Roboto Flex"/>
              </a:rPr>
              <a:t>Partner Domain</a:t>
            </a:r>
          </a:p>
          <a:p>
            <a:pPr marL="171450" indent="-171450">
              <a:buFontTx/>
              <a:buChar char="-"/>
            </a:pPr>
            <a:r>
              <a:rPr lang="en-US" sz="1100" smtClean="0">
                <a:latin typeface="Roboto Flex"/>
              </a:rPr>
              <a:t>TPP Onboarding:</a:t>
            </a:r>
          </a:p>
          <a:p>
            <a:pPr marL="628650" lvl="1" indent="-171450">
              <a:buFontTx/>
              <a:buChar char="-"/>
            </a:pPr>
            <a:r>
              <a:rPr lang="en-US" sz="1100" smtClean="0">
                <a:latin typeface="Roboto Flex"/>
              </a:rPr>
              <a:t>Register Partner</a:t>
            </a:r>
          </a:p>
          <a:p>
            <a:pPr marL="628650" lvl="1" indent="-171450">
              <a:buFontTx/>
              <a:buChar char="-"/>
            </a:pPr>
            <a:r>
              <a:rPr lang="en-US" sz="1100" smtClean="0">
                <a:latin typeface="Roboto Flex"/>
              </a:rPr>
              <a:t>Partner User Management</a:t>
            </a:r>
          </a:p>
          <a:p>
            <a:pPr marL="628650" lvl="1" indent="-171450">
              <a:buFontTx/>
              <a:buChar char="-"/>
            </a:pPr>
            <a:endParaRPr lang="en-US" sz="1100">
              <a:latin typeface="Roboto Flex"/>
            </a:endParaRPr>
          </a:p>
          <a:p>
            <a:r>
              <a:rPr lang="en-US" sz="1100" b="1" smtClean="0">
                <a:latin typeface="Roboto Flex"/>
              </a:rPr>
              <a:t>Discovery Domain</a:t>
            </a:r>
          </a:p>
          <a:p>
            <a:pPr marL="171450" indent="-171450">
              <a:buFontTx/>
              <a:buChar char="-"/>
            </a:pPr>
            <a:r>
              <a:rPr lang="en-US" sz="1100" smtClean="0">
                <a:latin typeface="Roboto Flex"/>
              </a:rPr>
              <a:t>API Catalog</a:t>
            </a:r>
            <a:endParaRPr lang="en-US" sz="1100">
              <a:latin typeface="Roboto Flex"/>
            </a:endParaRPr>
          </a:p>
          <a:p>
            <a:pPr marL="171450" indent="-171450">
              <a:buFontTx/>
              <a:buChar char="-"/>
            </a:pPr>
            <a:r>
              <a:rPr lang="en-US" sz="1100" smtClean="0">
                <a:latin typeface="Roboto Flex"/>
              </a:rPr>
              <a:t>Try-out Console</a:t>
            </a:r>
          </a:p>
          <a:p>
            <a:endParaRPr lang="en-US" sz="1100">
              <a:latin typeface="Roboto Flex"/>
            </a:endParaRPr>
          </a:p>
          <a:p>
            <a:r>
              <a:rPr lang="en-US" sz="1100" b="1" smtClean="0">
                <a:latin typeface="Roboto Flex"/>
              </a:rPr>
              <a:t>Consumption </a:t>
            </a:r>
            <a:r>
              <a:rPr lang="en-US" sz="1100" b="1" smtClean="0">
                <a:latin typeface="Roboto Flex"/>
              </a:rPr>
              <a:t>Domain (*)</a:t>
            </a:r>
            <a:endParaRPr lang="en-US" sz="1100" b="1" smtClean="0">
              <a:latin typeface="Roboto Flex"/>
            </a:endParaRPr>
          </a:p>
          <a:p>
            <a:pPr marL="171450" indent="-171450">
              <a:buFontTx/>
              <a:buChar char="-"/>
            </a:pPr>
            <a:r>
              <a:rPr lang="en-US" sz="1100" smtClean="0">
                <a:latin typeface="Roboto Flex"/>
              </a:rPr>
              <a:t>Application Management</a:t>
            </a:r>
          </a:p>
          <a:p>
            <a:pPr marL="171450" indent="-171450">
              <a:buFontTx/>
              <a:buChar char="-"/>
            </a:pPr>
            <a:r>
              <a:rPr lang="en-US" sz="1100" smtClean="0">
                <a:latin typeface="Roboto Flex"/>
              </a:rPr>
              <a:t>Subscription Application</a:t>
            </a:r>
          </a:p>
          <a:p>
            <a:pPr marL="171450" indent="-171450">
              <a:buFontTx/>
              <a:buChar char="-"/>
            </a:pPr>
            <a:r>
              <a:rPr lang="en-US" sz="1100" smtClean="0">
                <a:latin typeface="Roboto Flex"/>
              </a:rPr>
              <a:t>Credential Management</a:t>
            </a:r>
          </a:p>
          <a:p>
            <a:pPr marL="171450" indent="-171450">
              <a:buFontTx/>
              <a:buChar char="-"/>
            </a:pPr>
            <a:endParaRPr lang="en-US" sz="1100">
              <a:latin typeface="Roboto Flex"/>
            </a:endParaRPr>
          </a:p>
          <a:p>
            <a:r>
              <a:rPr lang="en-US" sz="1100" b="1" smtClean="0">
                <a:latin typeface="Roboto Flex"/>
              </a:rPr>
              <a:t>Consent Management</a:t>
            </a:r>
          </a:p>
          <a:p>
            <a:pPr marL="171450" indent="-171450">
              <a:buFontTx/>
              <a:buChar char="-"/>
            </a:pPr>
            <a:r>
              <a:rPr lang="en-US" sz="1100" smtClean="0">
                <a:latin typeface="Roboto Flex"/>
              </a:rPr>
              <a:t>Basic Consent</a:t>
            </a:r>
          </a:p>
          <a:p>
            <a:endParaRPr lang="en-US" sz="1100" b="1">
              <a:latin typeface="Roboto Flex"/>
            </a:endParaRPr>
          </a:p>
          <a:p>
            <a:r>
              <a:rPr lang="en-US" sz="1100" b="1" smtClean="0">
                <a:latin typeface="Roboto Flex"/>
              </a:rPr>
              <a:t>Open API Services</a:t>
            </a:r>
          </a:p>
          <a:p>
            <a:pPr marL="171450" indent="-171450">
              <a:buFontTx/>
              <a:buChar char="-"/>
            </a:pPr>
            <a:r>
              <a:rPr lang="en-US" sz="1100" smtClean="0">
                <a:latin typeface="Roboto Flex"/>
              </a:rPr>
              <a:t>Public API</a:t>
            </a:r>
          </a:p>
          <a:p>
            <a:pPr marL="171450" indent="-171450">
              <a:buFontTx/>
              <a:buChar char="-"/>
            </a:pPr>
            <a:r>
              <a:rPr lang="en-US" sz="1100" smtClean="0">
                <a:latin typeface="Roboto Flex"/>
              </a:rPr>
              <a:t>AIS Service</a:t>
            </a:r>
            <a:endParaRPr lang="en-US" sz="1100" smtClean="0">
              <a:latin typeface="Roboto Flex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489952" y="756117"/>
            <a:ext cx="3289883" cy="466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smtClean="0">
                <a:latin typeface="Roboto Flex"/>
              </a:rPr>
              <a:t>Access &amp; Authorization Domain</a:t>
            </a:r>
            <a:endParaRPr lang="en-US" sz="1100" smtClean="0">
              <a:latin typeface="Roboto Flex"/>
            </a:endParaRPr>
          </a:p>
          <a:p>
            <a:pPr marL="171450" indent="-171450">
              <a:buFontTx/>
              <a:buChar char="-"/>
            </a:pPr>
            <a:r>
              <a:rPr lang="en-US" sz="1100" smtClean="0">
                <a:latin typeface="Roboto Flex"/>
              </a:rPr>
              <a:t>Scope Enforcement</a:t>
            </a:r>
          </a:p>
          <a:p>
            <a:pPr marL="171450" indent="-171450">
              <a:buFontTx/>
              <a:buChar char="-"/>
            </a:pPr>
            <a:r>
              <a:rPr lang="en-US" sz="1100" smtClean="0">
                <a:latin typeface="Roboto Flex"/>
              </a:rPr>
              <a:t>Token Validation</a:t>
            </a:r>
          </a:p>
          <a:p>
            <a:pPr marL="171450" indent="-171450">
              <a:buFontTx/>
              <a:buChar char="-"/>
            </a:pPr>
            <a:endParaRPr lang="en-US" sz="1100" smtClean="0">
              <a:latin typeface="Roboto Flex"/>
            </a:endParaRPr>
          </a:p>
          <a:p>
            <a:r>
              <a:rPr lang="en-US" sz="1100" b="1" smtClean="0">
                <a:latin typeface="Roboto Flex"/>
              </a:rPr>
              <a:t>Partner Domain</a:t>
            </a:r>
          </a:p>
          <a:p>
            <a:pPr marL="171450" indent="-171450">
              <a:buFontTx/>
              <a:buChar char="-"/>
            </a:pPr>
            <a:r>
              <a:rPr lang="en-US" sz="1100" smtClean="0">
                <a:latin typeface="Roboto Flex"/>
              </a:rPr>
              <a:t>TPP Management:</a:t>
            </a:r>
          </a:p>
          <a:p>
            <a:pPr marL="628650" lvl="1" indent="-171450">
              <a:buFontTx/>
              <a:buChar char="-"/>
            </a:pPr>
            <a:r>
              <a:rPr lang="en-US" sz="1100" smtClean="0">
                <a:latin typeface="Roboto Flex"/>
              </a:rPr>
              <a:t>Scope Assignment</a:t>
            </a:r>
          </a:p>
          <a:p>
            <a:pPr marL="628650" lvl="1" indent="-171450">
              <a:buFontTx/>
              <a:buChar char="-"/>
            </a:pPr>
            <a:r>
              <a:rPr lang="en-US" sz="1100" smtClean="0">
                <a:latin typeface="Roboto Flex"/>
              </a:rPr>
              <a:t>TPP Status Control</a:t>
            </a:r>
          </a:p>
          <a:p>
            <a:pPr marL="628650" lvl="1" indent="-171450">
              <a:buFontTx/>
              <a:buChar char="-"/>
            </a:pPr>
            <a:endParaRPr lang="en-US" sz="1100">
              <a:latin typeface="Roboto Flex"/>
            </a:endParaRPr>
          </a:p>
          <a:p>
            <a:r>
              <a:rPr lang="en-US" sz="1100" b="1" smtClean="0">
                <a:latin typeface="Roboto Flex"/>
              </a:rPr>
              <a:t>Discovery Domain</a:t>
            </a:r>
          </a:p>
          <a:p>
            <a:pPr marL="171450" indent="-171450">
              <a:buFontTx/>
              <a:buChar char="-"/>
            </a:pPr>
            <a:r>
              <a:rPr lang="en-US" sz="1100" smtClean="0">
                <a:latin typeface="Roboto Flex"/>
              </a:rPr>
              <a:t>Documentation Center</a:t>
            </a:r>
          </a:p>
          <a:p>
            <a:pPr marL="171450" indent="-171450">
              <a:buFontTx/>
              <a:buChar char="-"/>
            </a:pPr>
            <a:endParaRPr lang="en-US" sz="1100">
              <a:latin typeface="Roboto Flex"/>
            </a:endParaRPr>
          </a:p>
          <a:p>
            <a:r>
              <a:rPr lang="en-US" sz="1100" b="1" smtClean="0">
                <a:latin typeface="Roboto Flex"/>
              </a:rPr>
              <a:t>Consumption </a:t>
            </a:r>
            <a:r>
              <a:rPr lang="en-US" sz="1100" b="1" smtClean="0">
                <a:latin typeface="Roboto Flex"/>
              </a:rPr>
              <a:t>Domain (*)</a:t>
            </a:r>
            <a:endParaRPr lang="en-US" sz="1100" b="1" smtClean="0">
              <a:latin typeface="Roboto Flex"/>
            </a:endParaRPr>
          </a:p>
          <a:p>
            <a:pPr marL="171450" indent="-171450">
              <a:buFontTx/>
              <a:buChar char="-"/>
            </a:pPr>
            <a:r>
              <a:rPr lang="en-US" sz="1100" smtClean="0">
                <a:latin typeface="Roboto Flex"/>
              </a:rPr>
              <a:t>Subscription Approval Workflow</a:t>
            </a:r>
          </a:p>
          <a:p>
            <a:pPr marL="171450" indent="-171450">
              <a:buFontTx/>
              <a:buChar char="-"/>
            </a:pPr>
            <a:r>
              <a:rPr lang="en-US" sz="1100" smtClean="0">
                <a:latin typeface="Roboto Flex"/>
              </a:rPr>
              <a:t>Rate Limiting Config</a:t>
            </a:r>
          </a:p>
          <a:p>
            <a:pPr marL="171450" indent="-171450">
              <a:buFontTx/>
              <a:buChar char="-"/>
            </a:pPr>
            <a:endParaRPr lang="en-US" sz="1100">
              <a:latin typeface="Roboto Flex"/>
            </a:endParaRPr>
          </a:p>
          <a:p>
            <a:r>
              <a:rPr lang="en-US" sz="1100" b="1" smtClean="0">
                <a:latin typeface="Roboto Flex"/>
              </a:rPr>
              <a:t>Consent Management</a:t>
            </a:r>
          </a:p>
          <a:p>
            <a:pPr marL="171450" indent="-171450">
              <a:buFontTx/>
              <a:buChar char="-"/>
            </a:pPr>
            <a:r>
              <a:rPr lang="en-US" sz="1100" smtClean="0">
                <a:latin typeface="Roboto Flex"/>
              </a:rPr>
              <a:t>Consent Lifecycle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smtClean="0">
                <a:latin typeface="Roboto Flex"/>
              </a:rPr>
              <a:t>Tra cứu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smtClean="0">
                <a:latin typeface="Roboto Flex"/>
              </a:rPr>
              <a:t>Revoke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smtClean="0">
                <a:latin typeface="Roboto Flex"/>
              </a:rPr>
              <a:t>Expire </a:t>
            </a:r>
          </a:p>
          <a:p>
            <a:r>
              <a:rPr lang="en-US" sz="1100" b="1" smtClean="0">
                <a:latin typeface="Roboto Flex"/>
              </a:rPr>
              <a:t>Operation Domain</a:t>
            </a:r>
          </a:p>
          <a:p>
            <a:pPr marL="171450" indent="-171450">
              <a:buFontTx/>
              <a:buChar char="-"/>
            </a:pPr>
            <a:r>
              <a:rPr lang="en-US" sz="1100" smtClean="0">
                <a:latin typeface="Roboto Flex"/>
              </a:rPr>
              <a:t>Audit &amp; Notification</a:t>
            </a:r>
          </a:p>
          <a:p>
            <a:pPr marL="171450" indent="-171450">
              <a:buFontTx/>
              <a:buChar char="-"/>
            </a:pPr>
            <a:endParaRPr lang="en-US" sz="1100">
              <a:latin typeface="Roboto Flex"/>
            </a:endParaRPr>
          </a:p>
          <a:p>
            <a:r>
              <a:rPr lang="en-US" sz="1100" b="1" smtClean="0">
                <a:latin typeface="Roboto Flex"/>
              </a:rPr>
              <a:t>Environment &amp; Governance Domain</a:t>
            </a:r>
          </a:p>
          <a:p>
            <a:pPr marL="171450" indent="-171450">
              <a:buFontTx/>
              <a:buChar char="-"/>
            </a:pPr>
            <a:r>
              <a:rPr lang="en-US" sz="1100" smtClean="0">
                <a:latin typeface="Roboto Flex"/>
              </a:rPr>
              <a:t>Define sandbox / UAT / production</a:t>
            </a:r>
          </a:p>
          <a:p>
            <a:pPr marL="171450" indent="-171450">
              <a:buFontTx/>
              <a:buChar char="-"/>
            </a:pPr>
            <a:endParaRPr lang="en-US" sz="1100">
              <a:latin typeface="Roboto Flex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43579" y="763252"/>
            <a:ext cx="3289883" cy="466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smtClean="0">
                <a:latin typeface="Roboto Flex"/>
              </a:rPr>
              <a:t>Partner Domain</a:t>
            </a:r>
          </a:p>
          <a:p>
            <a:pPr marL="171450" indent="-171450">
              <a:buFontTx/>
              <a:buChar char="-"/>
            </a:pPr>
            <a:r>
              <a:rPr lang="en-US" sz="1100" smtClean="0">
                <a:latin typeface="Roboto Flex"/>
              </a:rPr>
              <a:t>TPP Control:</a:t>
            </a:r>
          </a:p>
          <a:p>
            <a:pPr marL="628650" lvl="1" indent="-171450">
              <a:buFontTx/>
              <a:buChar char="-"/>
            </a:pPr>
            <a:r>
              <a:rPr lang="en-US" sz="1100" smtClean="0">
                <a:latin typeface="Roboto Flex"/>
              </a:rPr>
              <a:t>Policy Management</a:t>
            </a:r>
          </a:p>
          <a:p>
            <a:pPr marL="628650" lvl="1" indent="-171450">
              <a:buFontTx/>
              <a:buChar char="-"/>
            </a:pPr>
            <a:r>
              <a:rPr lang="en-US" sz="1100" smtClean="0">
                <a:latin typeface="Roboto Flex"/>
              </a:rPr>
              <a:t>Auto suspend</a:t>
            </a:r>
          </a:p>
          <a:p>
            <a:endParaRPr lang="en-US" sz="1100">
              <a:latin typeface="Roboto Flex"/>
            </a:endParaRPr>
          </a:p>
          <a:p>
            <a:r>
              <a:rPr lang="en-US" sz="1100" b="1" smtClean="0">
                <a:latin typeface="Roboto Flex"/>
              </a:rPr>
              <a:t>Consumption Domain</a:t>
            </a:r>
          </a:p>
          <a:p>
            <a:pPr marL="171450" indent="-171450">
              <a:buFontTx/>
              <a:buChar char="-"/>
            </a:pPr>
            <a:r>
              <a:rPr lang="en-US" sz="1100" smtClean="0">
                <a:latin typeface="Roboto Flex"/>
              </a:rPr>
              <a:t>Quota Management</a:t>
            </a:r>
          </a:p>
          <a:p>
            <a:pPr marL="171450" indent="-171450">
              <a:buFontTx/>
              <a:buChar char="-"/>
            </a:pPr>
            <a:endParaRPr lang="en-US" sz="1100">
              <a:latin typeface="Roboto Flex"/>
            </a:endParaRPr>
          </a:p>
          <a:p>
            <a:r>
              <a:rPr lang="en-US" sz="1100" b="1" smtClean="0">
                <a:latin typeface="Roboto Flex"/>
              </a:rPr>
              <a:t>Consent Management</a:t>
            </a:r>
          </a:p>
          <a:p>
            <a:pPr marL="171450" indent="-171450">
              <a:buFontTx/>
              <a:buChar char="-"/>
            </a:pPr>
            <a:r>
              <a:rPr lang="en-US" sz="1100" smtClean="0">
                <a:latin typeface="Roboto Flex"/>
              </a:rPr>
              <a:t>Advanced </a:t>
            </a:r>
            <a:r>
              <a:rPr lang="en-US" sz="1100" smtClean="0">
                <a:latin typeface="Roboto Flex"/>
              </a:rPr>
              <a:t>Consent</a:t>
            </a:r>
          </a:p>
          <a:p>
            <a:pPr marL="171450" indent="-171450">
              <a:buFontTx/>
              <a:buChar char="-"/>
            </a:pPr>
            <a:endParaRPr lang="en-US" sz="1100" b="1" smtClean="0">
              <a:latin typeface="Roboto Flex"/>
            </a:endParaRPr>
          </a:p>
          <a:p>
            <a:r>
              <a:rPr lang="en-US" sz="1100" b="1" smtClean="0">
                <a:latin typeface="Roboto Flex"/>
              </a:rPr>
              <a:t>Operation </a:t>
            </a:r>
            <a:r>
              <a:rPr lang="en-US" sz="1100" b="1" smtClean="0">
                <a:latin typeface="Roboto Flex"/>
              </a:rPr>
              <a:t>Domain (*)</a:t>
            </a:r>
            <a:endParaRPr lang="en-US" sz="1100" b="1" smtClean="0">
              <a:latin typeface="Roboto Flex"/>
            </a:endParaRPr>
          </a:p>
          <a:p>
            <a:pPr marL="171450" indent="-171450">
              <a:buFontTx/>
              <a:buChar char="-"/>
            </a:pPr>
            <a:r>
              <a:rPr lang="en-US" sz="1100" smtClean="0">
                <a:latin typeface="Roboto Flex"/>
              </a:rPr>
              <a:t>Analytics</a:t>
            </a:r>
          </a:p>
          <a:p>
            <a:pPr marL="171450" indent="-171450">
              <a:buFontTx/>
              <a:buChar char="-"/>
            </a:pPr>
            <a:r>
              <a:rPr lang="en-US" sz="1100" smtClean="0">
                <a:latin typeface="Roboto Flex"/>
              </a:rPr>
              <a:t>Alerting</a:t>
            </a:r>
            <a:endParaRPr lang="en-US" sz="1100" smtClean="0">
              <a:latin typeface="Roboto Flex"/>
            </a:endParaRPr>
          </a:p>
          <a:p>
            <a:pPr marL="171450" indent="-171450">
              <a:buFontTx/>
              <a:buChar char="-"/>
            </a:pPr>
            <a:r>
              <a:rPr lang="en-US" sz="1100" smtClean="0">
                <a:latin typeface="Roboto Flex"/>
              </a:rPr>
              <a:t>Support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>
              <a:latin typeface="Roboto Flex"/>
            </a:endParaRPr>
          </a:p>
          <a:p>
            <a:r>
              <a:rPr lang="en-US" sz="1100" b="1" smtClean="0">
                <a:latin typeface="Roboto Flex"/>
              </a:rPr>
              <a:t>Environment &amp; Governance Domain</a:t>
            </a:r>
          </a:p>
          <a:p>
            <a:pPr marL="171450" indent="-171450">
              <a:buFontTx/>
              <a:buChar char="-"/>
            </a:pPr>
            <a:r>
              <a:rPr lang="en-US" sz="1100" smtClean="0">
                <a:latin typeface="Roboto Flex"/>
              </a:rPr>
              <a:t>Governance Engine</a:t>
            </a:r>
          </a:p>
          <a:p>
            <a:pPr marL="171450" indent="-171450">
              <a:buFontTx/>
              <a:buChar char="-"/>
            </a:pPr>
            <a:endParaRPr lang="en-US" sz="1100">
              <a:latin typeface="Roboto Flex"/>
            </a:endParaRPr>
          </a:p>
          <a:p>
            <a:r>
              <a:rPr lang="en-US" sz="1100" b="1" smtClean="0">
                <a:latin typeface="Roboto Flex"/>
              </a:rPr>
              <a:t>Open API Services</a:t>
            </a:r>
          </a:p>
          <a:p>
            <a:pPr marL="171450" indent="-171450">
              <a:buFontTx/>
              <a:buChar char="-"/>
            </a:pPr>
            <a:r>
              <a:rPr lang="en-US" sz="1100" smtClean="0">
                <a:latin typeface="Roboto Flex"/>
              </a:rPr>
              <a:t>PIS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smtClean="0">
                <a:latin typeface="Roboto Flex"/>
              </a:rPr>
              <a:t>US: POST /payments/initiate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smtClean="0">
                <a:latin typeface="Roboto Flex"/>
              </a:rPr>
              <a:t>US: POST /payments/confirm (OTP)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smtClean="0">
              <a:latin typeface="Roboto Flex"/>
            </a:endParaRPr>
          </a:p>
          <a:p>
            <a:pPr marL="171450" indent="-171450">
              <a:buFontTx/>
              <a:buChar char="-"/>
            </a:pPr>
            <a:r>
              <a:rPr lang="en-US" sz="1100" smtClean="0">
                <a:latin typeface="Roboto Flex"/>
              </a:rPr>
              <a:t>Wallet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smtClean="0">
                <a:latin typeface="Roboto Flex"/>
              </a:rPr>
              <a:t>POST /wallet/topup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smtClean="0">
                <a:latin typeface="Roboto Flex"/>
              </a:rPr>
              <a:t>POST /wallet/withdraw</a:t>
            </a:r>
            <a:endParaRPr lang="en-US" sz="1100" b="1" smtClean="0">
              <a:latin typeface="Roboto Flex"/>
            </a:endParaRPr>
          </a:p>
        </p:txBody>
      </p:sp>
      <p:pic>
        <p:nvPicPr>
          <p:cNvPr id="1026" name="Picture 2" descr="Goal Icon Stock Illustrations – 284,643 Goal Icon Stock ...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37" y="5652434"/>
            <a:ext cx="472579" cy="472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648660" y="5696061"/>
            <a:ext cx="317168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300">
                <a:latin typeface="Roboto Flex"/>
                <a:cs typeface="Calibri" panose="020F0502020204030204" pitchFamily="34" charset="0"/>
              </a:rPr>
              <a:t>Thiết lập nền tảng Open API, cho phép TPP onboard và tiêu thụ API cơ bản (AIS + public data) trên môi trường sandbox với consent cơ bản</a:t>
            </a:r>
            <a:endParaRPr lang="en-US" sz="1300">
              <a:latin typeface="Roboto Flex"/>
              <a:cs typeface="Calibri" panose="020F050202020403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91148" y="5661268"/>
            <a:ext cx="317168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>
                <a:latin typeface="Roboto Flex"/>
              </a:rPr>
              <a:t>Đảm bảo kiểm soát truy cập, lifecycle consent</a:t>
            </a:r>
          </a:p>
        </p:txBody>
      </p:sp>
      <p:pic>
        <p:nvPicPr>
          <p:cNvPr id="14" name="Picture 2" descr="Goal Icon Stock Illustrations – 284,643 Goal Icon Stock ...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8569" y="5652434"/>
            <a:ext cx="472579" cy="472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8554725" y="5668402"/>
            <a:ext cx="317168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>
                <a:latin typeface="Roboto Flex"/>
              </a:rPr>
              <a:t>Hoàn thiện nền tảng Open Banking với PIS và dịch vụ ví, đồng thời bổ sung monitoring, governance và kiểm soát nâng cao để vận hành ở quy mô lớn</a:t>
            </a:r>
            <a:endParaRPr lang="en-US" sz="1300">
              <a:latin typeface="Roboto Flex"/>
            </a:endParaRPr>
          </a:p>
        </p:txBody>
      </p:sp>
      <p:pic>
        <p:nvPicPr>
          <p:cNvPr id="16" name="Picture 2" descr="Goal Icon Stock Illustrations – 284,643 Goal Icon Stock ...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0899" y="5700535"/>
            <a:ext cx="472579" cy="472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554379805"/>
              </p:ext>
            </p:extLst>
          </p:nvPr>
        </p:nvGraphicFramePr>
        <p:xfrm>
          <a:off x="199336" y="212764"/>
          <a:ext cx="11622156" cy="3332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7" name="Rectangle 16"/>
          <p:cNvSpPr/>
          <p:nvPr/>
        </p:nvSpPr>
        <p:spPr>
          <a:xfrm>
            <a:off x="0" y="6800850"/>
            <a:ext cx="12191695" cy="57150"/>
          </a:xfrm>
          <a:prstGeom prst="rect">
            <a:avLst/>
          </a:prstGeom>
          <a:gradFill rotWithShape="1">
            <a:gsLst>
              <a:gs pos="0">
                <a:srgbClr val="44B54B"/>
              </a:gs>
              <a:gs pos="50000">
                <a:srgbClr val="1399FF"/>
              </a:gs>
              <a:gs pos="100000">
                <a:srgbClr val="44B54B"/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605975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</TotalTime>
  <Words>430</Words>
  <Application>Microsoft Office PowerPoint</Application>
  <PresentationFormat>Widescreen</PresentationFormat>
  <Paragraphs>150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Roboto Flex</vt:lpstr>
      <vt:lpstr>Source Code Pro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10 Pro</dc:creator>
  <cp:lastModifiedBy>Windows 10 Pro</cp:lastModifiedBy>
  <cp:revision>13</cp:revision>
  <dcterms:created xsi:type="dcterms:W3CDTF">2026-03-24T11:19:31Z</dcterms:created>
  <dcterms:modified xsi:type="dcterms:W3CDTF">2026-03-25T07:03:17Z</dcterms:modified>
</cp:coreProperties>
</file>